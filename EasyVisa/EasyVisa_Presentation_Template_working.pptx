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9" r:id="rId1"/>
    <p:sldMasterId id="2147483680" r:id="rId2"/>
    <p:sldMasterId id="2147483681" r:id="rId3"/>
  </p:sldMasterIdLst>
  <p:notesMasterIdLst>
    <p:notesMasterId r:id="rId21"/>
  </p:notesMasterIdLst>
  <p:sldIdLst>
    <p:sldId id="256" r:id="rId4"/>
    <p:sldId id="257" r:id="rId5"/>
    <p:sldId id="258" r:id="rId6"/>
    <p:sldId id="259" r:id="rId7"/>
    <p:sldId id="271" r:id="rId8"/>
    <p:sldId id="260" r:id="rId9"/>
    <p:sldId id="272" r:id="rId10"/>
    <p:sldId id="261" r:id="rId11"/>
    <p:sldId id="262" r:id="rId12"/>
    <p:sldId id="263" r:id="rId13"/>
    <p:sldId id="264" r:id="rId14"/>
    <p:sldId id="265" r:id="rId15"/>
    <p:sldId id="266" r:id="rId16"/>
    <p:sldId id="267" r:id="rId17"/>
    <p:sldId id="268" r:id="rId18"/>
    <p:sldId id="269" r:id="rId19"/>
    <p:sldId id="270" r:id="rId20"/>
  </p:sldIdLst>
  <p:sldSz cx="9144000" cy="5143500" type="screen16x9"/>
  <p:notesSz cx="6858000" cy="9144000"/>
  <p:embeddedFontLst>
    <p:embeddedFont>
      <p:font typeface="Nunito" pitchFamily="2" charset="0"/>
      <p:regular r:id="rId22"/>
      <p:bold r:id="rId23"/>
      <p:italic r:id="rId24"/>
      <p:boldItalic r:id="rId25"/>
    </p:embeddedFont>
    <p:embeddedFont>
      <p:font typeface="Nunito ExtraBold" pitchFamily="2" charset="0"/>
      <p:bold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310A4B-DD2C-49C7-B102-3A2371D3D861}" v="111" dt="2025-12-22T03:45:14.360"/>
  </p1510:revLst>
</p1510:revInfo>
</file>

<file path=ppt/tableStyles.xml><?xml version="1.0" encoding="utf-8"?>
<a:tblStyleLst xmlns:a="http://schemas.openxmlformats.org/drawingml/2006/main" def="{8921D070-E9E0-4708-ADE3-723659AD1A52}">
  <a:tblStyle styleId="{8921D070-E9E0-4708-ADE3-723659AD1A52}"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32"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58a9e9d19c_2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g358a9e9d19c_2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58a9e9d19c_2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5" name="Google Shape;155;g358a9e9d19c_2_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58a9e9d19c_2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58a9e9d19c_2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58a9e9d19c_2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58a9e9d19c_2_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4538591C-8D16-869B-C5FA-D612A8D6115E}"/>
            </a:ext>
          </a:extLst>
        </p:cNvPr>
        <p:cNvGrpSpPr/>
        <p:nvPr/>
      </p:nvGrpSpPr>
      <p:grpSpPr>
        <a:xfrm>
          <a:off x="0" y="0"/>
          <a:ext cx="0" cy="0"/>
          <a:chOff x="0" y="0"/>
          <a:chExt cx="0" cy="0"/>
        </a:xfrm>
      </p:grpSpPr>
      <p:sp>
        <p:nvSpPr>
          <p:cNvPr id="166" name="Google Shape;166;g358a9e9d19c_2_65:notes">
            <a:extLst>
              <a:ext uri="{FF2B5EF4-FFF2-40B4-BE49-F238E27FC236}">
                <a16:creationId xmlns:a16="http://schemas.microsoft.com/office/drawing/2014/main" id="{C106E0D1-26BF-AE2E-28DA-B8CE52C849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g358a9e9d19c_2_65:notes">
            <a:extLst>
              <a:ext uri="{FF2B5EF4-FFF2-40B4-BE49-F238E27FC236}">
                <a16:creationId xmlns:a16="http://schemas.microsoft.com/office/drawing/2014/main" id="{D03D795E-D0A2-4ABA-21E5-2E1A9E7865B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25775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58a9e9d19c_2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58a9e9d19c_2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58a9e9d19c_2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358a9e9d19c_2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58a9e9d19c_2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58a9e9d19c_2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58a9e9d19c_2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358a9e9d19c_2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8a9e9d19c_2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g358a9e9d19c_2_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58a9e9d19c_2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358a9e9d19c_2_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a9e9d19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58a9e9d19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58a9e9d19c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58a9e9d19c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58a9e9d19c_2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g358a9e9d19c_2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58a9e9d19c_2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g358a9e9d19c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8a9e9d19c_2_1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358a9e9d19c_2_1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g358a9e9d19c_2_1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15</a:t>
            </a:fld>
            <a:endParaRPr sz="1200" b="0" i="0" u="none" strike="noStrike" cap="none">
              <a:solidFill>
                <a:schemeClr val="dk1"/>
              </a:solidFill>
              <a:latin typeface="Calibri"/>
              <a:ea typeface="Calibri"/>
              <a:cs typeface="Calibri"/>
              <a:sym typeface="Calibri"/>
            </a:endParaRPr>
          </a:p>
        </p:txBody>
      </p:sp>
      <p:sp>
        <p:nvSpPr>
          <p:cNvPr id="236" name="Google Shape;236;g358a9e9d19c_2_169: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1" name="Google Shape;61;p14"/>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4" name="Google Shape;64;p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5" name="Google Shape;65;p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68" name="Google Shape;68;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1" name="Google Shape;71;p17"/>
          <p:cNvGraphicFramePr/>
          <p:nvPr/>
        </p:nvGraphicFramePr>
        <p:xfrm>
          <a:off x="201942" y="833662"/>
          <a:ext cx="8655225" cy="3435475"/>
        </p:xfrm>
        <a:graphic>
          <a:graphicData uri="http://schemas.openxmlformats.org/drawingml/2006/table">
            <a:tbl>
              <a:tblPr firstRow="1" bandRow="1">
                <a:noFill/>
                <a:tableStyleId>{8921D070-E9E0-4708-ADE3-723659AD1A52}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95" name="Google Shape;95;p2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07"/>
        <p:cNvGrpSpPr/>
        <p:nvPr/>
      </p:nvGrpSpPr>
      <p:grpSpPr>
        <a:xfrm>
          <a:off x="0" y="0"/>
          <a:ext cx="0" cy="0"/>
          <a:chOff x="0" y="0"/>
          <a:chExt cx="0" cy="0"/>
        </a:xfrm>
      </p:grpSpPr>
      <p:sp>
        <p:nvSpPr>
          <p:cNvPr id="108" name="Google Shape;108;p25"/>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09" name="Google Shape;109;p25"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110" name="Google Shape;110;p2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11" name="Google Shape;111;p25"/>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112" name="Google Shape;112;p25"/>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3"/>
        <p:cNvGrpSpPr/>
        <p:nvPr/>
      </p:nvGrpSpPr>
      <p:grpSpPr>
        <a:xfrm>
          <a:off x="0" y="0"/>
          <a:ext cx="0" cy="0"/>
          <a:chOff x="0" y="0"/>
          <a:chExt cx="0" cy="0"/>
        </a:xfrm>
      </p:grpSpPr>
      <p:sp>
        <p:nvSpPr>
          <p:cNvPr id="114" name="Google Shape;114;p26"/>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15" name="Google Shape;115;p26"/>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6"/>
        <p:cNvGrpSpPr/>
        <p:nvPr/>
      </p:nvGrpSpPr>
      <p:grpSpPr>
        <a:xfrm>
          <a:off x="0" y="0"/>
          <a:ext cx="0" cy="0"/>
          <a:chOff x="0" y="0"/>
          <a:chExt cx="0" cy="0"/>
        </a:xfrm>
      </p:grpSpPr>
      <p:sp>
        <p:nvSpPr>
          <p:cNvPr id="117" name="Google Shape;117;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18" name="Google Shape;118;p2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1" name="Google Shape;121;p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22" name="Google Shape;122;p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23"/>
        <p:cNvGrpSpPr/>
        <p:nvPr/>
      </p:nvGrpSpPr>
      <p:grpSpPr>
        <a:xfrm>
          <a:off x="0" y="0"/>
          <a:ext cx="0" cy="0"/>
          <a:chOff x="0" y="0"/>
          <a:chExt cx="0" cy="0"/>
        </a:xfrm>
      </p:grpSpPr>
      <p:sp>
        <p:nvSpPr>
          <p:cNvPr id="124" name="Google Shape;124;p2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25" name="Google Shape;125;p29"/>
          <p:cNvGraphicFramePr/>
          <p:nvPr/>
        </p:nvGraphicFramePr>
        <p:xfrm>
          <a:off x="201942" y="833662"/>
          <a:ext cx="8655225" cy="3435475"/>
        </p:xfrm>
        <a:graphic>
          <a:graphicData uri="http://schemas.openxmlformats.org/drawingml/2006/table">
            <a:tbl>
              <a:tblPr firstRow="1" bandRow="1">
                <a:noFill/>
                <a:tableStyleId>{8921D070-E9E0-4708-ADE3-723659AD1A52}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26" name="Google Shape;126;p2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7"/>
        <p:cNvGrpSpPr/>
        <p:nvPr/>
      </p:nvGrpSpPr>
      <p:grpSpPr>
        <a:xfrm>
          <a:off x="0" y="0"/>
          <a:ext cx="0" cy="0"/>
          <a:chOff x="0" y="0"/>
          <a:chExt cx="0" cy="0"/>
        </a:xfrm>
      </p:grpSpPr>
      <p:sp>
        <p:nvSpPr>
          <p:cNvPr id="128" name="Google Shape;128;p3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9" name="Google Shape;129;p30"/>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0" name="Google Shape;130;p30"/>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31" name="Google Shape;131;p3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2"/>
        <p:cNvGrpSpPr/>
        <p:nvPr/>
      </p:nvGrpSpPr>
      <p:grpSpPr>
        <a:xfrm>
          <a:off x="0" y="0"/>
          <a:ext cx="0" cy="0"/>
          <a:chOff x="0" y="0"/>
          <a:chExt cx="0" cy="0"/>
        </a:xfrm>
      </p:grpSpPr>
      <p:sp>
        <p:nvSpPr>
          <p:cNvPr id="133" name="Google Shape;133;p3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4" name="Google Shape;134;p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5"/>
        <p:cNvGrpSpPr/>
        <p:nvPr/>
      </p:nvGrpSpPr>
      <p:grpSpPr>
        <a:xfrm>
          <a:off x="0" y="0"/>
          <a:ext cx="0" cy="0"/>
          <a:chOff x="0" y="0"/>
          <a:chExt cx="0" cy="0"/>
        </a:xfrm>
      </p:grpSpPr>
      <p:sp>
        <p:nvSpPr>
          <p:cNvPr id="136" name="Google Shape;136;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37" name="Google Shape;137;p3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8"/>
        <p:cNvGrpSpPr/>
        <p:nvPr/>
      </p:nvGrpSpPr>
      <p:grpSpPr>
        <a:xfrm>
          <a:off x="0" y="0"/>
          <a:ext cx="0" cy="0"/>
          <a:chOff x="0" y="0"/>
          <a:chExt cx="0" cy="0"/>
        </a:xfrm>
      </p:grpSpPr>
      <p:sp>
        <p:nvSpPr>
          <p:cNvPr id="139" name="Google Shape;139;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41" name="Google Shape;141;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42" name="Google Shape;142;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143" name="Google Shape;143;p3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4"/>
        <p:cNvGrpSpPr/>
        <p:nvPr/>
      </p:nvGrpSpPr>
      <p:grpSpPr>
        <a:xfrm>
          <a:off x="0" y="0"/>
          <a:ext cx="0" cy="0"/>
          <a:chOff x="0" y="0"/>
          <a:chExt cx="0" cy="0"/>
        </a:xfrm>
      </p:grpSpPr>
      <p:sp>
        <p:nvSpPr>
          <p:cNvPr id="145" name="Google Shape;145;p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6" name="Google Shape;56;p13"/>
          <p:cNvGrpSpPr/>
          <p:nvPr/>
        </p:nvGrpSpPr>
        <p:grpSpPr>
          <a:xfrm>
            <a:off x="6593" y="10"/>
            <a:ext cx="175500" cy="709221"/>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100" name="Google Shape;100;p24"/>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01" name="Google Shape;101;p24"/>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02" name="Google Shape;102;p2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3" name="Google Shape;103;p24"/>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04" name="Google Shape;104;p24"/>
          <p:cNvGrpSpPr/>
          <p:nvPr/>
        </p:nvGrpSpPr>
        <p:grpSpPr>
          <a:xfrm>
            <a:off x="6593" y="10"/>
            <a:ext cx="175500" cy="709221"/>
            <a:chOff x="6593" y="10"/>
            <a:chExt cx="175500" cy="709221"/>
          </a:xfrm>
        </p:grpSpPr>
        <p:sp>
          <p:nvSpPr>
            <p:cNvPr id="105" name="Google Shape;105;p24"/>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4"/>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Lst>
  <mc:AlternateContent xmlns:mc="http://schemas.openxmlformats.org/markup-compatibility/2006" xmlns:p14="http://schemas.microsoft.com/office/powerpoint/2010/main">
    <mc:Choice Requires="p14">
      <p:transition p14:dur="0">
        <p:fade thruBlk="1"/>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5"/>
          <p:cNvSpPr txBox="1">
            <a:spLocks noGrp="1"/>
          </p:cNvSpPr>
          <p:nvPr>
            <p:ph type="ctrTitle"/>
          </p:nvPr>
        </p:nvSpPr>
        <p:spPr>
          <a:xfrm>
            <a:off x="1069870" y="705806"/>
            <a:ext cx="6827700" cy="581700"/>
          </a:xfrm>
          <a:prstGeom prst="rect">
            <a:avLst/>
          </a:prstGeom>
          <a:noFill/>
          <a:ln>
            <a:noFill/>
          </a:ln>
        </p:spPr>
        <p:txBody>
          <a:bodyPr spcFirstLastPara="1" wrap="square" lIns="91425" tIns="91425" rIns="91425" bIns="91425" anchor="b" anchorCtr="0">
            <a:noAutofit/>
          </a:bodyPr>
          <a:lstStyle/>
          <a:p>
            <a:r>
              <a:rPr lang="en" sz="3600" dirty="0"/>
              <a:t>EASY VISA PROJECT</a:t>
            </a:r>
          </a:p>
        </p:txBody>
      </p:sp>
      <p:sp>
        <p:nvSpPr>
          <p:cNvPr id="151" name="Google Shape;151;p35"/>
          <p:cNvSpPr txBox="1">
            <a:spLocks noGrp="1"/>
          </p:cNvSpPr>
          <p:nvPr>
            <p:ph type="ctrTitle"/>
          </p:nvPr>
        </p:nvSpPr>
        <p:spPr>
          <a:xfrm>
            <a:off x="1069366" y="3214099"/>
            <a:ext cx="6827700" cy="498300"/>
          </a:xfrm>
          <a:prstGeom prst="rect">
            <a:avLst/>
          </a:prstGeom>
          <a:noFill/>
          <a:ln>
            <a:noFill/>
          </a:ln>
        </p:spPr>
        <p:txBody>
          <a:bodyPr spcFirstLastPara="1" wrap="square" lIns="91425" tIns="91425" rIns="91425" bIns="91425" anchor="b" anchorCtr="0">
            <a:noAutofit/>
          </a:bodyPr>
          <a:lstStyle/>
          <a:p>
            <a:r>
              <a:rPr lang="en" sz="3000" b="0" dirty="0"/>
              <a:t>Project and Course </a:t>
            </a:r>
            <a:r>
              <a:rPr lang="en" sz="3000" b="0" dirty="0" err="1"/>
              <a:t>NamePost</a:t>
            </a:r>
            <a:r>
              <a:rPr lang="en" sz="3000" b="0" dirty="0"/>
              <a:t> Graduate Program in Artificial Intelligence and Machine Learning</a:t>
            </a:r>
            <a:endParaRPr lang="en-US" dirty="0"/>
          </a:p>
        </p:txBody>
      </p:sp>
      <p:sp>
        <p:nvSpPr>
          <p:cNvPr id="152" name="Google Shape;152;p35"/>
          <p:cNvSpPr txBox="1">
            <a:spLocks noGrp="1"/>
          </p:cNvSpPr>
          <p:nvPr>
            <p:ph type="ctrTitle"/>
          </p:nvPr>
        </p:nvSpPr>
        <p:spPr>
          <a:xfrm>
            <a:off x="1153000" y="3214532"/>
            <a:ext cx="6827700" cy="498300"/>
          </a:xfrm>
          <a:prstGeom prst="rect">
            <a:avLst/>
          </a:prstGeom>
          <a:noFill/>
          <a:ln>
            <a:noFill/>
          </a:ln>
        </p:spPr>
        <p:txBody>
          <a:bodyPr spcFirstLastPara="1" wrap="square" lIns="91425" tIns="91425" rIns="91425" bIns="91425" anchor="b" anchorCtr="0">
            <a:noAutofit/>
          </a:bodyPr>
          <a:lstStyle/>
          <a:p>
            <a:pPr marL="0" lvl="0" indent="0" algn="l">
              <a:lnSpc>
                <a:spcPct val="100000"/>
              </a:lnSpc>
              <a:spcBef>
                <a:spcPts val="0"/>
              </a:spcBef>
              <a:spcAft>
                <a:spcPts val="0"/>
              </a:spcAft>
              <a:buNone/>
            </a:pPr>
            <a:r>
              <a:rPr lang="en" sz="1600" b="0" dirty="0"/>
              <a:t>12/22/2025</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Contents / Agenda</a:t>
            </a:r>
            <a:endParaRPr>
              <a:solidFill>
                <a:srgbClr val="000000"/>
              </a:solidFill>
            </a:endParaRPr>
          </a:p>
        </p:txBody>
      </p:sp>
      <p:sp>
        <p:nvSpPr>
          <p:cNvPr id="158" name="Google Shape;158;p3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marL="457200" lvl="0" indent="-317500" algn="l" rtl="0">
              <a:lnSpc>
                <a:spcPct val="115000"/>
              </a:lnSpc>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Executive Summary </a:t>
            </a:r>
            <a:endParaRPr>
              <a:solidFill>
                <a:srgbClr val="000000"/>
              </a:solidFill>
            </a:endParaRPr>
          </a:p>
        </p:txBody>
      </p:sp>
      <p:sp>
        <p:nvSpPr>
          <p:cNvPr id="3" name="Text Placeholder 2">
            <a:extLst>
              <a:ext uri="{FF2B5EF4-FFF2-40B4-BE49-F238E27FC236}">
                <a16:creationId xmlns:a16="http://schemas.microsoft.com/office/drawing/2014/main" id="{72971FC8-8BDC-D85D-BFF4-D5A977060671}"/>
              </a:ext>
            </a:extLst>
          </p:cNvPr>
          <p:cNvSpPr>
            <a:spLocks noGrp="1"/>
          </p:cNvSpPr>
          <p:nvPr>
            <p:ph type="body" idx="1"/>
          </p:nvPr>
        </p:nvSpPr>
        <p:spPr/>
        <p:txBody>
          <a:bodyPr/>
          <a:lstStyle/>
          <a:p>
            <a:pPr lvl="1">
              <a:lnSpc>
                <a:spcPct val="120000"/>
              </a:lnSpc>
              <a:spcBef>
                <a:spcPts val="500"/>
              </a:spcBef>
            </a:pPr>
            <a:r>
              <a:rPr lang="en-US" sz="1200" b="1" dirty="0">
                <a:solidFill>
                  <a:srgbClr val="000000"/>
                </a:solidFill>
              </a:rPr>
              <a:t>The profile of the applicants for whose visa can be certified:</a:t>
            </a:r>
            <a:endParaRPr lang="en-US" sz="1200" dirty="0">
              <a:solidFill>
                <a:srgbClr val="000000"/>
              </a:solidFill>
            </a:endParaRPr>
          </a:p>
          <a:p>
            <a:pPr lvl="1">
              <a:lnSpc>
                <a:spcPct val="120000"/>
              </a:lnSpc>
              <a:spcBef>
                <a:spcPts val="500"/>
              </a:spcBef>
            </a:pPr>
            <a:r>
              <a:rPr lang="en-US" sz="1200" dirty="0">
                <a:solidFill>
                  <a:srgbClr val="000000"/>
                </a:solidFill>
              </a:rPr>
              <a:t>Education level - At least has a Bachelor's degree - Master's and doctorate are preferred.</a:t>
            </a:r>
          </a:p>
          <a:p>
            <a:pPr lvl="1">
              <a:lnSpc>
                <a:spcPct val="120000"/>
              </a:lnSpc>
              <a:spcBef>
                <a:spcPts val="500"/>
              </a:spcBef>
            </a:pPr>
            <a:r>
              <a:rPr lang="en-US" sz="1200" dirty="0">
                <a:solidFill>
                  <a:srgbClr val="000000"/>
                </a:solidFill>
              </a:rPr>
              <a:t>Job Experience - has job experience.</a:t>
            </a:r>
          </a:p>
          <a:p>
            <a:pPr lvl="1">
              <a:lnSpc>
                <a:spcPct val="120000"/>
              </a:lnSpc>
              <a:spcBef>
                <a:spcPts val="500"/>
              </a:spcBef>
            </a:pPr>
            <a:r>
              <a:rPr lang="en-US" sz="1200" dirty="0">
                <a:solidFill>
                  <a:srgbClr val="000000"/>
                </a:solidFill>
              </a:rPr>
              <a:t>Prevailing wage - has a high prevailing wage most likely yearly (The median prevailing wage of the employees for whom the visa got certified is around 72k. )</a:t>
            </a:r>
          </a:p>
          <a:p>
            <a:pPr lvl="1">
              <a:lnSpc>
                <a:spcPct val="120000"/>
              </a:lnSpc>
              <a:spcBef>
                <a:spcPts val="500"/>
              </a:spcBef>
            </a:pPr>
            <a:r>
              <a:rPr lang="en-US" sz="1200" dirty="0">
                <a:solidFill>
                  <a:srgbClr val="000000"/>
                </a:solidFill>
              </a:rPr>
              <a:t>Continent - it has been observed that applicants from Europe, Africa, and Asia have higher chances of visa certification.</a:t>
            </a:r>
          </a:p>
          <a:p>
            <a:pPr lvl="1">
              <a:lnSpc>
                <a:spcPct val="120000"/>
              </a:lnSpc>
              <a:spcBef>
                <a:spcPts val="500"/>
              </a:spcBef>
            </a:pPr>
            <a:r>
              <a:rPr lang="en-US" sz="1200" b="1" dirty="0">
                <a:solidFill>
                  <a:srgbClr val="000000"/>
                </a:solidFill>
              </a:rPr>
              <a:t>The profile of the applicants for whom the visa status can be denied:</a:t>
            </a:r>
            <a:endParaRPr lang="en-US" sz="1200" dirty="0">
              <a:solidFill>
                <a:srgbClr val="000000"/>
              </a:solidFill>
            </a:endParaRPr>
          </a:p>
          <a:p>
            <a:pPr lvl="1">
              <a:lnSpc>
                <a:spcPct val="120000"/>
              </a:lnSpc>
              <a:spcBef>
                <a:spcPts val="500"/>
              </a:spcBef>
            </a:pPr>
            <a:r>
              <a:rPr lang="en-US" sz="1200" dirty="0">
                <a:solidFill>
                  <a:srgbClr val="000000"/>
                </a:solidFill>
              </a:rPr>
              <a:t>Education level - high school degree.</a:t>
            </a:r>
          </a:p>
          <a:p>
            <a:pPr lvl="1">
              <a:lnSpc>
                <a:spcPct val="120000"/>
              </a:lnSpc>
              <a:spcBef>
                <a:spcPts val="500"/>
              </a:spcBef>
            </a:pPr>
            <a:r>
              <a:rPr lang="en-US" sz="1200" dirty="0">
                <a:solidFill>
                  <a:srgbClr val="000000"/>
                </a:solidFill>
              </a:rPr>
              <a:t>Job Experience - Doesn't have any job experience.</a:t>
            </a:r>
          </a:p>
          <a:p>
            <a:pPr lvl="1">
              <a:lnSpc>
                <a:spcPct val="120000"/>
              </a:lnSpc>
              <a:spcBef>
                <a:spcPts val="500"/>
              </a:spcBef>
            </a:pPr>
            <a:r>
              <a:rPr lang="en-US" sz="1200" dirty="0">
                <a:solidFill>
                  <a:srgbClr val="000000"/>
                </a:solidFill>
              </a:rPr>
              <a:t>Prevailing wage and unit of wage - applicants with hourly units of wage (The median prevailing wage of the employees for whom the visa got certified is around 65k.)</a:t>
            </a:r>
          </a:p>
          <a:p>
            <a:pPr lvl="1">
              <a:lnSpc>
                <a:spcPct val="120000"/>
              </a:lnSpc>
              <a:spcBef>
                <a:spcPts val="500"/>
              </a:spcBef>
            </a:pPr>
            <a:r>
              <a:rPr lang="en-US" sz="1200" dirty="0">
                <a:solidFill>
                  <a:srgbClr val="000000"/>
                </a:solidFill>
              </a:rPr>
              <a:t>Continent - it has been observed that applicants from South America, North America, and Oceania have higher chances of visa applications getting</a:t>
            </a:r>
          </a:p>
          <a:p>
            <a:pPr>
              <a:lnSpc>
                <a:spcPct val="114999"/>
              </a:lnSpc>
            </a:pP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Business Problem Overview and Solution Approach</a:t>
            </a:r>
            <a:endParaRPr>
              <a:solidFill>
                <a:srgbClr val="000000"/>
              </a:solidFill>
            </a:endParaRPr>
          </a:p>
        </p:txBody>
      </p:sp>
      <p:sp>
        <p:nvSpPr>
          <p:cNvPr id="170" name="Google Shape;170;p3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a:buClr>
                <a:srgbClr val="222222"/>
              </a:buClr>
              <a:buSzPts val="1400"/>
              <a:buFont typeface="Nunito,Sans-Serif"/>
            </a:pPr>
            <a:endParaRPr lang="en" sz="1200" dirty="0">
              <a:solidFill>
                <a:srgbClr val="000000"/>
              </a:solidFill>
            </a:endParaRPr>
          </a:p>
          <a:p>
            <a:pPr marL="228600">
              <a:lnSpc>
                <a:spcPct val="120000"/>
              </a:lnSpc>
              <a:spcBef>
                <a:spcPts val="1000"/>
              </a:spcBef>
              <a:buClr>
                <a:srgbClr val="222222"/>
              </a:buClr>
              <a:buSzPts val="1400"/>
            </a:pPr>
            <a:r>
              <a:rPr lang="en-US" sz="1200">
                <a:solidFill>
                  <a:srgbClr val="000000"/>
                </a:solidFill>
              </a:rPr>
              <a:t>OFLC processes job certification applications for employers seeking to bring foreign workers into the United States and grants certifications in those cases where employers can demonstrate that there are not sufficient US workers available to perform the work at wages that meet or exceed the wage paid for the occupation in the area of intended employment.</a:t>
            </a:r>
            <a:endParaRPr lang="en-US" sz="1200" dirty="0">
              <a:solidFill>
                <a:srgbClr val="000000"/>
              </a:solidFill>
            </a:endParaRPr>
          </a:p>
          <a:p>
            <a:pPr marL="228600">
              <a:lnSpc>
                <a:spcPct val="120000"/>
              </a:lnSpc>
              <a:spcBef>
                <a:spcPts val="1000"/>
              </a:spcBef>
              <a:buClr>
                <a:srgbClr val="222222"/>
              </a:buClr>
              <a:buSzPts val="1400"/>
            </a:pPr>
            <a:r>
              <a:rPr lang="en-US" sz="1200">
                <a:solidFill>
                  <a:srgbClr val="000000"/>
                </a:solidFill>
              </a:rPr>
              <a:t>The process of reviewing every case is becoming a tedious task as the number of applicants is increasing every year. In FY 2016, the OFLC processed 775,979 employer applications for 1,699,957 positions for temporary and permanent labor certifications which was a nine percent increase in the overall number of processed applications from the previous year. </a:t>
            </a:r>
            <a:endParaRPr lang="en-US" sz="1200" dirty="0">
              <a:solidFill>
                <a:srgbClr val="000000"/>
              </a:solidFill>
            </a:endParaRPr>
          </a:p>
          <a:p>
            <a:pPr marL="228600">
              <a:lnSpc>
                <a:spcPct val="120000"/>
              </a:lnSpc>
              <a:spcBef>
                <a:spcPts val="1000"/>
              </a:spcBef>
              <a:buClr>
                <a:srgbClr val="222222"/>
              </a:buClr>
              <a:buSzPts val="1400"/>
            </a:pPr>
            <a:r>
              <a:rPr lang="en-US" sz="1200" dirty="0">
                <a:solidFill>
                  <a:srgbClr val="000000"/>
                </a:solidFill>
              </a:rPr>
              <a:t>The task at hand to analyze the data provided to facilitate the process of visa approvals by building a machine learning model and to recommend a suitable profile for the applicants for whom the visa should be certified or denied based on the drivers that significantly influence the case status. </a:t>
            </a:r>
          </a:p>
          <a:p>
            <a:pPr marL="457200" lvl="0" indent="-317500" algn="l">
              <a:lnSpc>
                <a:spcPct val="114999"/>
              </a:lnSpc>
              <a:spcBef>
                <a:spcPts val="1000"/>
              </a:spcBef>
              <a:buClr>
                <a:srgbClr val="000000"/>
              </a:buClr>
              <a:buSzPts val="1400"/>
              <a:buChar char="●"/>
            </a:pPr>
            <a:endParaRPr lang="en-US" sz="1200"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1FC39A32-E4FC-0E8B-DD2A-F6A67FD8DE4E}"/>
            </a:ext>
          </a:extLst>
        </p:cNvPr>
        <p:cNvGrpSpPr/>
        <p:nvPr/>
      </p:nvGrpSpPr>
      <p:grpSpPr>
        <a:xfrm>
          <a:off x="0" y="0"/>
          <a:ext cx="0" cy="0"/>
          <a:chOff x="0" y="0"/>
          <a:chExt cx="0" cy="0"/>
        </a:xfrm>
      </p:grpSpPr>
      <p:sp>
        <p:nvSpPr>
          <p:cNvPr id="169" name="Google Shape;169;p38">
            <a:extLst>
              <a:ext uri="{FF2B5EF4-FFF2-40B4-BE49-F238E27FC236}">
                <a16:creationId xmlns:a16="http://schemas.microsoft.com/office/drawing/2014/main" id="{0B1837BE-8D51-C9B1-568F-414A3B24B54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Business Problem Overview and Solution Approach</a:t>
            </a:r>
            <a:endParaRPr>
              <a:solidFill>
                <a:srgbClr val="000000"/>
              </a:solidFill>
            </a:endParaRPr>
          </a:p>
        </p:txBody>
      </p:sp>
      <p:sp>
        <p:nvSpPr>
          <p:cNvPr id="170" name="Google Shape;170;p38">
            <a:extLst>
              <a:ext uri="{FF2B5EF4-FFF2-40B4-BE49-F238E27FC236}">
                <a16:creationId xmlns:a16="http://schemas.microsoft.com/office/drawing/2014/main" id="{127C51E1-1643-7512-2773-8B372C27F239}"/>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a:lnSpc>
                <a:spcPct val="114999"/>
              </a:lnSpc>
              <a:buClr>
                <a:srgbClr val="222222"/>
              </a:buClr>
              <a:buSzPts val="1400"/>
            </a:pPr>
            <a:endParaRPr lang="en" sz="1200" dirty="0">
              <a:solidFill>
                <a:srgbClr val="000000"/>
              </a:solidFill>
            </a:endParaRPr>
          </a:p>
          <a:p>
            <a:pPr>
              <a:lnSpc>
                <a:spcPct val="120000"/>
              </a:lnSpc>
              <a:spcBef>
                <a:spcPts val="1000"/>
              </a:spcBef>
              <a:buClr>
                <a:srgbClr val="222222"/>
              </a:buClr>
              <a:buSzPts val="1400"/>
            </a:pPr>
            <a:r>
              <a:rPr lang="en-US" sz="1200" dirty="0">
                <a:solidFill>
                  <a:srgbClr val="000000"/>
                </a:solidFill>
              </a:rPr>
              <a:t>We want to predict whether the visa application will get certified or not using the information provided.</a:t>
            </a:r>
          </a:p>
          <a:p>
            <a:pPr>
              <a:lnSpc>
                <a:spcPct val="120000"/>
              </a:lnSpc>
              <a:spcBef>
                <a:spcPts val="1000"/>
              </a:spcBef>
              <a:buClr>
                <a:srgbClr val="222222"/>
              </a:buClr>
              <a:buSzPts val="1400"/>
            </a:pPr>
            <a:r>
              <a:rPr lang="en-US" sz="1200" dirty="0">
                <a:solidFill>
                  <a:srgbClr val="000000"/>
                </a:solidFill>
              </a:rPr>
              <a:t>We will use F1 Score as the metric for evaluation of the model because </a:t>
            </a:r>
          </a:p>
          <a:p>
            <a:pPr lvl="1">
              <a:lnSpc>
                <a:spcPct val="120000"/>
              </a:lnSpc>
              <a:spcBef>
                <a:spcPts val="500"/>
              </a:spcBef>
              <a:buClr>
                <a:srgbClr val="222222"/>
              </a:buClr>
              <a:buSzPts val="1400"/>
              <a:buFont typeface="Courier New,monospace"/>
              <a:buChar char="o"/>
            </a:pPr>
            <a:r>
              <a:rPr lang="en-US" sz="1200" dirty="0">
                <a:solidFill>
                  <a:srgbClr val="000000"/>
                </a:solidFill>
              </a:rPr>
              <a:t>Although since visa certification involves making important decisions about granting visas to employees, we need to be cautious about both false positives (approving visas for employees who shouldn't be eligible) and false negatives (rejecting visas for eligible employees). F1 score will help us to minimize both false positives and false negatives.</a:t>
            </a:r>
          </a:p>
          <a:p>
            <a:pPr>
              <a:lnSpc>
                <a:spcPct val="120000"/>
              </a:lnSpc>
              <a:spcBef>
                <a:spcPts val="1000"/>
              </a:spcBef>
              <a:buClr>
                <a:srgbClr val="222222"/>
              </a:buClr>
              <a:buSzPts val="1400"/>
              <a:buFont typeface="Courier New,monospace"/>
              <a:buChar char="o"/>
            </a:pPr>
            <a:r>
              <a:rPr lang="en-US" sz="1200" dirty="0">
                <a:solidFill>
                  <a:srgbClr val="000000"/>
                </a:solidFill>
              </a:rPr>
              <a:t>We will use balanced class weights so that model focuses equally on both classes.</a:t>
            </a:r>
          </a:p>
          <a:p>
            <a:pPr>
              <a:lnSpc>
                <a:spcPct val="120000"/>
              </a:lnSpc>
              <a:spcBef>
                <a:spcPts val="1000"/>
              </a:spcBef>
              <a:buClr>
                <a:srgbClr val="222222"/>
              </a:buClr>
              <a:buSzPts val="1400"/>
              <a:buFont typeface="Courier New,monospace"/>
              <a:buChar char="o"/>
            </a:pPr>
            <a:r>
              <a:rPr lang="en-US" sz="1200" dirty="0">
                <a:solidFill>
                  <a:srgbClr val="000000"/>
                </a:solidFill>
              </a:rPr>
              <a:t>We will build different models - </a:t>
            </a:r>
            <a:r>
              <a:rPr lang="en-US" sz="1200" err="1">
                <a:solidFill>
                  <a:srgbClr val="000000"/>
                </a:solidFill>
              </a:rPr>
              <a:t>DecisionTreeClassifier</a:t>
            </a:r>
            <a:r>
              <a:rPr lang="en-US" sz="1200" dirty="0">
                <a:solidFill>
                  <a:srgbClr val="000000"/>
                </a:solidFill>
              </a:rPr>
              <a:t>, </a:t>
            </a:r>
            <a:r>
              <a:rPr lang="en-US" sz="1200" err="1">
                <a:solidFill>
                  <a:srgbClr val="000000"/>
                </a:solidFill>
              </a:rPr>
              <a:t>RandomForestClassifier</a:t>
            </a:r>
            <a:r>
              <a:rPr lang="en-US" sz="1200" dirty="0">
                <a:solidFill>
                  <a:srgbClr val="000000"/>
                </a:solidFill>
              </a:rPr>
              <a:t>, </a:t>
            </a:r>
            <a:r>
              <a:rPr lang="en-US" sz="1200" err="1">
                <a:solidFill>
                  <a:srgbClr val="000000"/>
                </a:solidFill>
              </a:rPr>
              <a:t>AdaBoostClassifier</a:t>
            </a:r>
            <a:r>
              <a:rPr lang="en-US" sz="1200" dirty="0">
                <a:solidFill>
                  <a:srgbClr val="000000"/>
                </a:solidFill>
              </a:rPr>
              <a:t>, and </a:t>
            </a:r>
            <a:r>
              <a:rPr lang="en-US" sz="1200" err="1">
                <a:solidFill>
                  <a:srgbClr val="000000"/>
                </a:solidFill>
              </a:rPr>
              <a:t>GradientBoostingClassifierr</a:t>
            </a:r>
            <a:r>
              <a:rPr lang="en-US" sz="1200" dirty="0">
                <a:solidFill>
                  <a:srgbClr val="000000"/>
                </a:solidFill>
              </a:rPr>
              <a:t>.</a:t>
            </a:r>
          </a:p>
          <a:p>
            <a:pPr>
              <a:lnSpc>
                <a:spcPct val="120000"/>
              </a:lnSpc>
              <a:spcBef>
                <a:spcPts val="1000"/>
              </a:spcBef>
              <a:buClr>
                <a:srgbClr val="222222"/>
              </a:buClr>
              <a:buSzPts val="1400"/>
              <a:buFont typeface="Courier New,monospace"/>
              <a:buChar char="o"/>
            </a:pPr>
            <a:r>
              <a:rPr lang="en-US" sz="1200" dirty="0">
                <a:solidFill>
                  <a:srgbClr val="000000"/>
                </a:solidFill>
              </a:rPr>
              <a:t>We will also perform hyperparameter tuning for these models and evaluate their performance using different metrics and confusion matrix.</a:t>
            </a:r>
          </a:p>
          <a:p>
            <a:pPr marL="457200" lvl="0" algn="l">
              <a:lnSpc>
                <a:spcPct val="114999"/>
              </a:lnSpc>
              <a:buClr>
                <a:srgbClr val="222222"/>
              </a:buClr>
              <a:buSzPts val="1400"/>
              <a:buFont typeface="Nunito,Sans-Serif"/>
              <a:buChar char="●"/>
            </a:pPr>
            <a:endParaRPr lang="en-US" sz="1200" dirty="0">
              <a:solidFill>
                <a:srgbClr val="000000"/>
              </a:solidFill>
            </a:endParaRPr>
          </a:p>
        </p:txBody>
      </p:sp>
    </p:spTree>
    <p:extLst>
      <p:ext uri="{BB962C8B-B14F-4D97-AF65-F5344CB8AC3E}">
        <p14:creationId xmlns:p14="http://schemas.microsoft.com/office/powerpoint/2010/main" val="2184411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r>
              <a:rPr lang="en" dirty="0">
                <a:solidFill>
                  <a:srgbClr val="000000"/>
                </a:solidFill>
              </a:rPr>
              <a:t>EDA Results</a:t>
            </a:r>
            <a:endParaRPr lang="en-US" dirty="0">
              <a:solidFill>
                <a:srgbClr val="000000"/>
              </a:solidFill>
            </a:endParaRPr>
          </a:p>
        </p:txBody>
      </p:sp>
      <p:sp>
        <p:nvSpPr>
          <p:cNvPr id="177" name="Google Shape;177;p39"/>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hlinkClick r:id="rId3" action="ppaction://hlinksldjump"/>
              </a:rPr>
              <a:t>Link to Appendix slide on data background check</a:t>
            </a:r>
            <a:endParaRPr sz="1200" b="0" i="1" u="none" strike="noStrike" cap="none">
              <a:solidFill>
                <a:srgbClr val="666666"/>
              </a:solidFill>
              <a:latin typeface="Nunito"/>
              <a:ea typeface="Nunito"/>
              <a:cs typeface="Nunito"/>
              <a:sym typeface="Nunito"/>
            </a:endParaRPr>
          </a:p>
        </p:txBody>
      </p:sp>
      <p:sp>
        <p:nvSpPr>
          <p:cNvPr id="176" name="Google Shape;176;p39"/>
          <p:cNvSpPr txBox="1">
            <a:spLocks noGrp="1"/>
          </p:cNvSpPr>
          <p:nvPr>
            <p:ph type="body" idx="1"/>
          </p:nvPr>
        </p:nvSpPr>
        <p:spPr>
          <a:xfrm>
            <a:off x="202550" y="861975"/>
            <a:ext cx="8629800" cy="445070"/>
          </a:xfrm>
          <a:prstGeom prst="rect">
            <a:avLst/>
          </a:prstGeom>
          <a:noFill/>
          <a:ln>
            <a:solidFill>
              <a:srgbClr val="4472C4"/>
            </a:solidFill>
          </a:ln>
        </p:spPr>
        <p:txBody>
          <a:bodyPr spcFirstLastPara="1" wrap="square" lIns="91425" tIns="91425" rIns="91425" bIns="91425" anchor="t" anchorCtr="0">
            <a:noAutofit/>
          </a:bodyPr>
          <a:lstStyle/>
          <a:p>
            <a:pPr marL="139700" indent="0">
              <a:buClr>
                <a:srgbClr val="000000"/>
              </a:buClr>
              <a:buSzPts val="1400"/>
              <a:buNone/>
            </a:pPr>
            <a:r>
              <a:rPr lang="en" sz="1400" dirty="0">
                <a:solidFill>
                  <a:srgbClr val="000000"/>
                </a:solidFill>
              </a:rPr>
              <a:t>Distribution of visa case statuses (certified vs. denied)</a:t>
            </a:r>
            <a:endParaRPr lang="en-US"/>
          </a:p>
          <a:p>
            <a:pPr marL="0" indent="0">
              <a:spcBef>
                <a:spcPts val="1000"/>
              </a:spcBef>
              <a:buNone/>
            </a:pPr>
            <a:endParaRPr lang="en-US" sz="1200" i="1">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8F4EA-5FDD-029D-7EC1-B1E09844E36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601998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4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Preprocessing </a:t>
            </a:r>
            <a:endParaRPr>
              <a:solidFill>
                <a:srgbClr val="000000"/>
              </a:solidFill>
            </a:endParaRPr>
          </a:p>
        </p:txBody>
      </p:sp>
      <p:sp>
        <p:nvSpPr>
          <p:cNvPr id="183" name="Google Shape;183;p40"/>
          <p:cNvSpPr txBox="1">
            <a:spLocks noGrp="1"/>
          </p:cNvSpPr>
          <p:nvPr>
            <p:ph type="body" idx="1"/>
          </p:nvPr>
        </p:nvSpPr>
        <p:spPr>
          <a:xfrm>
            <a:off x="202550" y="861975"/>
            <a:ext cx="8629800" cy="400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400">
                <a:solidFill>
                  <a:srgbClr val="2D3B45"/>
                </a:solidFill>
                <a:highlight>
                  <a:srgbClr val="FFFFFF"/>
                </a:highlight>
              </a:rPr>
              <a:t>For each of the following steps, write down observations and describe the steps undertaken to preprocess the data</a:t>
            </a:r>
            <a:endParaRPr sz="1400">
              <a:solidFill>
                <a:srgbClr val="2D3B45"/>
              </a:solidFill>
              <a:highlight>
                <a:srgbClr val="FFFFFF"/>
              </a:highlight>
            </a:endParaRPr>
          </a:p>
          <a:p>
            <a:pPr marL="457200" lvl="0" indent="-317500" algn="l" rtl="0">
              <a:lnSpc>
                <a:spcPct val="115000"/>
              </a:lnSpc>
              <a:spcBef>
                <a:spcPts val="1000"/>
              </a:spcBef>
              <a:spcAft>
                <a:spcPts val="0"/>
              </a:spcAft>
              <a:buClr>
                <a:srgbClr val="2D3B45"/>
              </a:buClr>
              <a:buSzPts val="1400"/>
              <a:buChar char="●"/>
            </a:pPr>
            <a:r>
              <a:rPr lang="en" sz="1400">
                <a:solidFill>
                  <a:srgbClr val="2D3B45"/>
                </a:solidFill>
                <a:highlight>
                  <a:srgbClr val="FFFFFF"/>
                </a:highlight>
              </a:rPr>
              <a:t>Duplicate Value Check</a:t>
            </a:r>
            <a:endParaRPr sz="1400">
              <a:solidFill>
                <a:srgbClr val="2D3B45"/>
              </a:solidFill>
              <a:highlight>
                <a:srgbClr val="FFFFFF"/>
              </a:highlight>
            </a:endParaRPr>
          </a:p>
          <a:p>
            <a:pPr marL="457200" lvl="0" indent="-317500" algn="l" rtl="0">
              <a:lnSpc>
                <a:spcPct val="115000"/>
              </a:lnSpc>
              <a:spcBef>
                <a:spcPts val="1000"/>
              </a:spcBef>
              <a:spcAft>
                <a:spcPts val="0"/>
              </a:spcAft>
              <a:buClr>
                <a:srgbClr val="2D3B45"/>
              </a:buClr>
              <a:buSzPts val="1400"/>
              <a:buChar char="●"/>
            </a:pPr>
            <a:r>
              <a:rPr lang="en" sz="1400">
                <a:solidFill>
                  <a:srgbClr val="2D3B45"/>
                </a:solidFill>
                <a:highlight>
                  <a:srgbClr val="FFFFFF"/>
                </a:highlight>
              </a:rPr>
              <a:t>Missing Value Detection and Treatment (if needed with rationale)</a:t>
            </a:r>
            <a:endParaRPr sz="1400">
              <a:solidFill>
                <a:srgbClr val="2D3B45"/>
              </a:solidFill>
              <a:highlight>
                <a:srgbClr val="FFFFFF"/>
              </a:highlight>
            </a:endParaRPr>
          </a:p>
          <a:p>
            <a:pPr marL="457200" lvl="0" indent="-317500" algn="l" rtl="0">
              <a:lnSpc>
                <a:spcPct val="115000"/>
              </a:lnSpc>
              <a:spcBef>
                <a:spcPts val="1000"/>
              </a:spcBef>
              <a:spcAft>
                <a:spcPts val="0"/>
              </a:spcAft>
              <a:buClr>
                <a:srgbClr val="2D3B45"/>
              </a:buClr>
              <a:buSzPts val="1400"/>
              <a:buChar char="●"/>
            </a:pPr>
            <a:r>
              <a:rPr lang="en" sz="1400">
                <a:solidFill>
                  <a:srgbClr val="2D3B45"/>
                </a:solidFill>
                <a:highlight>
                  <a:srgbClr val="FFFFFF"/>
                </a:highlight>
              </a:rPr>
              <a:t>Outlier Detection and Treatment (if needed with rationale)</a:t>
            </a:r>
            <a:endParaRPr sz="1400">
              <a:solidFill>
                <a:srgbClr val="2D3B45"/>
              </a:solidFill>
              <a:highlight>
                <a:srgbClr val="FFFFFF"/>
              </a:highlight>
            </a:endParaRPr>
          </a:p>
          <a:p>
            <a:pPr marL="457200" lvl="0" indent="-317500" algn="l" rtl="0">
              <a:lnSpc>
                <a:spcPct val="115000"/>
              </a:lnSpc>
              <a:spcBef>
                <a:spcPts val="1000"/>
              </a:spcBef>
              <a:spcAft>
                <a:spcPts val="0"/>
              </a:spcAft>
              <a:buClr>
                <a:srgbClr val="2D3B45"/>
              </a:buClr>
              <a:buSzPts val="1400"/>
              <a:buChar char="●"/>
            </a:pPr>
            <a:r>
              <a:rPr lang="en" sz="1400">
                <a:solidFill>
                  <a:srgbClr val="2D3B45"/>
                </a:solidFill>
                <a:highlight>
                  <a:srgbClr val="FFFFFF"/>
                </a:highlight>
              </a:rPr>
              <a:t>Feature Engineering (if needed with rationale)</a:t>
            </a:r>
            <a:endParaRPr sz="1400">
              <a:solidFill>
                <a:srgbClr val="2D3B45"/>
              </a:solidFill>
              <a:highlight>
                <a:srgbClr val="FFFFFF"/>
              </a:highlight>
            </a:endParaRPr>
          </a:p>
          <a:p>
            <a:pPr marL="457200" lvl="0" indent="-317500" algn="l" rtl="0">
              <a:lnSpc>
                <a:spcPct val="115000"/>
              </a:lnSpc>
              <a:spcBef>
                <a:spcPts val="1000"/>
              </a:spcBef>
              <a:spcAft>
                <a:spcPts val="0"/>
              </a:spcAft>
              <a:buClr>
                <a:srgbClr val="2D3B45"/>
              </a:buClr>
              <a:buSzPts val="1400"/>
              <a:buChar char="●"/>
            </a:pPr>
            <a:r>
              <a:rPr lang="en" sz="1400">
                <a:solidFill>
                  <a:srgbClr val="2D3B45"/>
                </a:solidFill>
                <a:highlight>
                  <a:srgbClr val="FFFFFF"/>
                </a:highlight>
              </a:rPr>
              <a:t>Data Preparation for Modeling</a:t>
            </a:r>
            <a:endParaRPr sz="1400">
              <a:solidFill>
                <a:srgbClr val="2D3B45"/>
              </a:solidFill>
              <a:highlight>
                <a:srgbClr val="FFFFFF"/>
              </a:highlight>
            </a:endParaRPr>
          </a:p>
          <a:p>
            <a:pPr marL="914400" lvl="1" indent="-317500" algn="l" rtl="0">
              <a:lnSpc>
                <a:spcPct val="115000"/>
              </a:lnSpc>
              <a:spcBef>
                <a:spcPts val="1000"/>
              </a:spcBef>
              <a:spcAft>
                <a:spcPts val="0"/>
              </a:spcAft>
              <a:buClr>
                <a:srgbClr val="2D3B45"/>
              </a:buClr>
              <a:buSzPts val="1400"/>
              <a:buChar char="○"/>
            </a:pPr>
            <a:r>
              <a:rPr lang="en" sz="1400">
                <a:solidFill>
                  <a:srgbClr val="2D3B45"/>
                </a:solidFill>
                <a:highlight>
                  <a:srgbClr val="FFFFFF"/>
                </a:highlight>
              </a:rPr>
              <a:t>Split the data into different sets</a:t>
            </a:r>
            <a:endParaRPr sz="1400">
              <a:solidFill>
                <a:srgbClr val="2D3B45"/>
              </a:solidFill>
              <a:highlight>
                <a:srgbClr val="FFFFFF"/>
              </a:highlight>
            </a:endParaRPr>
          </a:p>
          <a:p>
            <a:pPr marL="914400" lvl="1" indent="-317500" algn="l" rtl="0">
              <a:lnSpc>
                <a:spcPct val="115000"/>
              </a:lnSpc>
              <a:spcBef>
                <a:spcPts val="1000"/>
              </a:spcBef>
              <a:spcAft>
                <a:spcPts val="0"/>
              </a:spcAft>
              <a:buClr>
                <a:srgbClr val="2D3B45"/>
              </a:buClr>
              <a:buSzPts val="1400"/>
              <a:buChar char="○"/>
            </a:pPr>
            <a:r>
              <a:rPr lang="en" sz="1400">
                <a:solidFill>
                  <a:srgbClr val="2D3B45"/>
                </a:solidFill>
                <a:highlight>
                  <a:srgbClr val="FFFFFF"/>
                </a:highlight>
              </a:rPr>
              <a:t>Encode the categorical variables</a:t>
            </a:r>
            <a:endParaRPr sz="1400">
              <a:solidFill>
                <a:srgbClr val="2D3B45"/>
              </a:solidFill>
              <a:highlight>
                <a:srgbClr val="FFFFFF"/>
              </a:highlight>
            </a:endParaRPr>
          </a:p>
          <a:p>
            <a:pPr marL="0" lvl="0" indent="0" algn="l" rtl="0">
              <a:lnSpc>
                <a:spcPct val="115000"/>
              </a:lnSpc>
              <a:spcBef>
                <a:spcPts val="1000"/>
              </a:spcBef>
              <a:spcAft>
                <a:spcPts val="0"/>
              </a:spcAft>
              <a:buSzPts val="1500"/>
              <a:buNone/>
            </a:pPr>
            <a:endParaRPr sz="1400">
              <a:solidFill>
                <a:srgbClr val="2D3B45"/>
              </a:solidFill>
              <a:highlight>
                <a:srgbClr val="FFFFFF"/>
              </a:highlight>
            </a:endParaRPr>
          </a:p>
          <a:p>
            <a:pPr marL="0" lvl="0" indent="0" algn="l" rtl="0">
              <a:lnSpc>
                <a:spcPct val="115000"/>
              </a:lnSpc>
              <a:spcBef>
                <a:spcPts val="1000"/>
              </a:spcBef>
              <a:spcAft>
                <a:spcPts val="1000"/>
              </a:spcAft>
              <a:buSzPts val="1500"/>
              <a:buNone/>
            </a:pPr>
            <a:r>
              <a:rPr lang="en" sz="1200" b="1" i="1">
                <a:solidFill>
                  <a:srgbClr val="000000"/>
                </a:solidFill>
              </a:rPr>
              <a:t>Note</a:t>
            </a:r>
            <a:r>
              <a:rPr lang="en" sz="1200" i="1">
                <a:solidFill>
                  <a:srgbClr val="000000"/>
                </a:solidFill>
              </a:rPr>
              <a:t>: You can use more than one slide if needed </a:t>
            </a:r>
            <a:endParaRPr sz="1400">
              <a:solidFill>
                <a:srgbClr val="2D3B45"/>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Performance Summary and Final Model Selection</a:t>
            </a:r>
            <a:endParaRPr>
              <a:solidFill>
                <a:srgbClr val="000000"/>
              </a:solidFill>
            </a:endParaRPr>
          </a:p>
        </p:txBody>
      </p:sp>
      <p:sp>
        <p:nvSpPr>
          <p:cNvPr id="189" name="Google Shape;189;p4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rgbClr val="000000"/>
              </a:buClr>
              <a:buSzPts val="1400"/>
              <a:buChar char="●"/>
            </a:pPr>
            <a:r>
              <a:rPr lang="en" sz="1400">
                <a:solidFill>
                  <a:schemeClr val="dk1"/>
                </a:solidFill>
              </a:rPr>
              <a:t>Compare the performance of the tuned models</a:t>
            </a:r>
            <a:endParaRPr sz="1400">
              <a:solidFill>
                <a:schemeClr val="dk1"/>
              </a:solidFill>
            </a:endParaRPr>
          </a:p>
          <a:p>
            <a:pPr marL="457200" lvl="0" indent="-317500" algn="l" rtl="0">
              <a:lnSpc>
                <a:spcPct val="115000"/>
              </a:lnSpc>
              <a:spcBef>
                <a:spcPts val="1000"/>
              </a:spcBef>
              <a:spcAft>
                <a:spcPts val="0"/>
              </a:spcAft>
              <a:buClr>
                <a:srgbClr val="000000"/>
              </a:buClr>
              <a:buSzPts val="1400"/>
              <a:buChar char="●"/>
            </a:pPr>
            <a:r>
              <a:rPr lang="en" sz="1400">
                <a:solidFill>
                  <a:schemeClr val="dk1"/>
                </a:solidFill>
              </a:rPr>
              <a:t>Overview of final ML model and its parameters</a:t>
            </a:r>
            <a:endParaRPr sz="1400">
              <a:solidFill>
                <a:schemeClr val="dk1"/>
              </a:solidFill>
            </a:endParaRPr>
          </a:p>
          <a:p>
            <a:pPr marL="457200" lvl="0" indent="-317500" algn="l" rtl="0">
              <a:lnSpc>
                <a:spcPct val="115000"/>
              </a:lnSpc>
              <a:spcBef>
                <a:spcPts val="1000"/>
              </a:spcBef>
              <a:spcAft>
                <a:spcPts val="0"/>
              </a:spcAft>
              <a:buClr>
                <a:schemeClr val="dk1"/>
              </a:buClr>
              <a:buSzPts val="1400"/>
              <a:buChar char="●"/>
            </a:pPr>
            <a:r>
              <a:rPr lang="en" sz="1400">
                <a:solidFill>
                  <a:schemeClr val="dk1"/>
                </a:solidFill>
              </a:rPr>
              <a:t>Comment on the performance of the final model</a:t>
            </a:r>
            <a:endParaRPr sz="1400">
              <a:solidFill>
                <a:schemeClr val="dk1"/>
              </a:solidFill>
            </a:endParaRPr>
          </a:p>
          <a:p>
            <a:pPr marL="457200" lvl="0" indent="-317500" algn="l" rtl="0">
              <a:lnSpc>
                <a:spcPct val="115000"/>
              </a:lnSpc>
              <a:spcBef>
                <a:spcPts val="1000"/>
              </a:spcBef>
              <a:spcAft>
                <a:spcPts val="0"/>
              </a:spcAft>
              <a:buClr>
                <a:srgbClr val="000000"/>
              </a:buClr>
              <a:buSzPts val="1400"/>
              <a:buChar char="●"/>
            </a:pPr>
            <a:r>
              <a:rPr lang="en" sz="1400">
                <a:solidFill>
                  <a:schemeClr val="dk1"/>
                </a:solidFill>
              </a:rPr>
              <a:t>Summary of most important factors used by the ML model for prediction</a:t>
            </a:r>
            <a:endParaRPr sz="1400">
              <a:solidFill>
                <a:schemeClr val="dk1"/>
              </a:solidFill>
            </a:endParaRPr>
          </a:p>
          <a:p>
            <a:pPr marL="0" lvl="0" indent="0" algn="l" rtl="0">
              <a:lnSpc>
                <a:spcPct val="115000"/>
              </a:lnSpc>
              <a:spcBef>
                <a:spcPts val="1000"/>
              </a:spcBef>
              <a:spcAft>
                <a:spcPts val="0"/>
              </a:spcAft>
              <a:buSzPts val="1500"/>
              <a:buNone/>
            </a:pPr>
            <a:endParaRPr sz="1400">
              <a:solidFill>
                <a:srgbClr val="000000"/>
              </a:solidFill>
            </a:endParaRPr>
          </a:p>
          <a:p>
            <a:pPr marL="0" lvl="0" indent="0" algn="l" rtl="0">
              <a:lnSpc>
                <a:spcPct val="115000"/>
              </a:lnSpc>
              <a:spcBef>
                <a:spcPts val="1000"/>
              </a:spcBef>
              <a:spcAft>
                <a:spcPts val="0"/>
              </a:spcAft>
              <a:buSzPts val="1500"/>
              <a:buNone/>
            </a:pPr>
            <a:r>
              <a:rPr lang="en" sz="1200" b="1" i="1">
                <a:solidFill>
                  <a:srgbClr val="000000"/>
                </a:solidFill>
              </a:rPr>
              <a:t>Note</a:t>
            </a:r>
            <a:r>
              <a:rPr lang="en" sz="1200" i="1">
                <a:solidFill>
                  <a:srgbClr val="000000"/>
                </a:solidFill>
              </a:rPr>
              <a:t>: You can use more than one slide if needed </a:t>
            </a:r>
            <a:endParaRPr sz="1300" i="1">
              <a:solidFill>
                <a:srgbClr val="000000"/>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90" name="Google Shape;190;p41"/>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endParaRPr sz="1200" b="0" i="1" u="none" strike="noStrike" cap="none">
              <a:solidFill>
                <a:srgbClr val="666666"/>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42"/>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4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Data Background and Contents</a:t>
            </a:r>
            <a:endParaRPr>
              <a:solidFill>
                <a:srgbClr val="000000"/>
              </a:solidFill>
            </a:endParaRPr>
          </a:p>
        </p:txBody>
      </p:sp>
      <p:sp>
        <p:nvSpPr>
          <p:cNvPr id="201" name="Google Shape;201;p43"/>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400">
                <a:solidFill>
                  <a:schemeClr val="dk1"/>
                </a:solidFill>
              </a:rPr>
              <a:t>Please mention the data background and contents</a:t>
            </a:r>
            <a:endParaRPr sz="14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4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Original Data</a:t>
            </a:r>
            <a:endParaRPr>
              <a:solidFill>
                <a:srgbClr val="000000"/>
              </a:solidFill>
            </a:endParaRPr>
          </a:p>
        </p:txBody>
      </p:sp>
      <p:sp>
        <p:nvSpPr>
          <p:cNvPr id="207" name="Google Shape;207;p44"/>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chemeClr val="dk1"/>
                </a:solidFill>
              </a:rPr>
              <a:t>List the models built along with the scores on different evaluation metrics</a:t>
            </a:r>
            <a:endParaRPr sz="1400">
              <a:solidFill>
                <a:schemeClr val="dk1"/>
              </a:solidFill>
            </a:endParaRPr>
          </a:p>
          <a:p>
            <a:pPr marL="457200" lvl="0" indent="-317500" algn="l" rtl="0">
              <a:lnSpc>
                <a:spcPct val="115000"/>
              </a:lnSpc>
              <a:spcBef>
                <a:spcPts val="1000"/>
              </a:spcBef>
              <a:spcAft>
                <a:spcPts val="0"/>
              </a:spcAft>
              <a:buClr>
                <a:schemeClr val="dk1"/>
              </a:buClr>
              <a:buSzPts val="1400"/>
              <a:buChar char="●"/>
            </a:pPr>
            <a:r>
              <a:rPr lang="en" sz="1400">
                <a:solidFill>
                  <a:schemeClr val="dk1"/>
                </a:solidFill>
              </a:rPr>
              <a:t>Comment on the model performance</a:t>
            </a:r>
            <a:endParaRPr sz="1400">
              <a:solidFill>
                <a:schemeClr val="dk1"/>
              </a:solidFill>
            </a:endParaRPr>
          </a:p>
          <a:p>
            <a:pPr marL="0" lvl="0" indent="0" algn="l" rtl="0">
              <a:lnSpc>
                <a:spcPct val="115000"/>
              </a:lnSpc>
              <a:spcBef>
                <a:spcPts val="1000"/>
              </a:spcBef>
              <a:spcAft>
                <a:spcPts val="0"/>
              </a:spcAft>
              <a:buSzPts val="1500"/>
              <a:buNone/>
            </a:pPr>
            <a:endParaRPr sz="1400">
              <a:solidFill>
                <a:schemeClr val="dk1"/>
              </a:solidFill>
            </a:endParaRPr>
          </a:p>
          <a:p>
            <a:pPr marL="0" lvl="0" indent="0" algn="l" rtl="0">
              <a:lnSpc>
                <a:spcPct val="115000"/>
              </a:lnSpc>
              <a:spcBef>
                <a:spcPts val="1000"/>
              </a:spcBef>
              <a:spcAft>
                <a:spcPts val="1000"/>
              </a:spcAft>
              <a:buSzPts val="1500"/>
              <a:buNone/>
            </a:pPr>
            <a:r>
              <a:rPr lang="en" sz="1200" b="1" i="1">
                <a:solidFill>
                  <a:srgbClr val="000000"/>
                </a:solidFill>
              </a:rPr>
              <a:t>Note</a:t>
            </a:r>
            <a:r>
              <a:rPr lang="en" sz="1200" i="1">
                <a:solidFill>
                  <a:srgbClr val="000000"/>
                </a:solidFill>
              </a:rPr>
              <a:t>: You can use more than one slide if needed </a:t>
            </a:r>
            <a:endParaRPr sz="1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Oversampled Data</a:t>
            </a:r>
            <a:endParaRPr>
              <a:solidFill>
                <a:srgbClr val="000000"/>
              </a:solidFill>
            </a:endParaRPr>
          </a:p>
        </p:txBody>
      </p:sp>
      <p:sp>
        <p:nvSpPr>
          <p:cNvPr id="213" name="Google Shape;213;p4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chemeClr val="dk1"/>
              </a:buClr>
              <a:buSzPts val="1400"/>
              <a:buChar char="●"/>
            </a:pPr>
            <a:r>
              <a:rPr lang="en" sz="1400">
                <a:solidFill>
                  <a:schemeClr val="dk1"/>
                </a:solidFill>
              </a:rPr>
              <a:t>Describe the oversampling method used</a:t>
            </a:r>
            <a:endParaRPr sz="1400">
              <a:solidFill>
                <a:schemeClr val="dk1"/>
              </a:solidFill>
            </a:endParaRPr>
          </a:p>
          <a:p>
            <a:pPr marL="457200" lvl="0" indent="-317500" algn="l" rtl="0">
              <a:lnSpc>
                <a:spcPct val="115000"/>
              </a:lnSpc>
              <a:spcBef>
                <a:spcPts val="1000"/>
              </a:spcBef>
              <a:spcAft>
                <a:spcPts val="0"/>
              </a:spcAft>
              <a:buClr>
                <a:schemeClr val="dk1"/>
              </a:buClr>
              <a:buSzPts val="1400"/>
              <a:buChar char="●"/>
            </a:pPr>
            <a:r>
              <a:rPr lang="en" sz="1400">
                <a:solidFill>
                  <a:schemeClr val="dk1"/>
                </a:solidFill>
              </a:rPr>
              <a:t>List the models built along with the scores on different evaluation metrics</a:t>
            </a:r>
            <a:endParaRPr sz="1400">
              <a:solidFill>
                <a:schemeClr val="dk1"/>
              </a:solidFill>
            </a:endParaRPr>
          </a:p>
          <a:p>
            <a:pPr marL="457200" lvl="0" indent="-317500" algn="l" rtl="0">
              <a:lnSpc>
                <a:spcPct val="115000"/>
              </a:lnSpc>
              <a:spcBef>
                <a:spcPts val="1000"/>
              </a:spcBef>
              <a:spcAft>
                <a:spcPts val="0"/>
              </a:spcAft>
              <a:buClr>
                <a:schemeClr val="dk1"/>
              </a:buClr>
              <a:buSzPts val="1400"/>
              <a:buChar char="●"/>
            </a:pPr>
            <a:r>
              <a:rPr lang="en" sz="1400">
                <a:solidFill>
                  <a:schemeClr val="dk1"/>
                </a:solidFill>
              </a:rPr>
              <a:t>Comment on the model performance</a:t>
            </a:r>
            <a:endParaRPr sz="1400">
              <a:solidFill>
                <a:schemeClr val="dk1"/>
              </a:solidFill>
            </a:endParaRPr>
          </a:p>
          <a:p>
            <a:pPr marL="0" lvl="0" indent="0" algn="l" rtl="0">
              <a:lnSpc>
                <a:spcPct val="115000"/>
              </a:lnSpc>
              <a:spcBef>
                <a:spcPts val="1000"/>
              </a:spcBef>
              <a:spcAft>
                <a:spcPts val="0"/>
              </a:spcAft>
              <a:buSzPts val="1500"/>
              <a:buNone/>
            </a:pPr>
            <a:endParaRPr sz="1400">
              <a:solidFill>
                <a:schemeClr val="dk1"/>
              </a:solidFill>
            </a:endParaRPr>
          </a:p>
          <a:p>
            <a:pPr marL="0" lvl="0" indent="0" algn="l" rtl="0">
              <a:lnSpc>
                <a:spcPct val="115000"/>
              </a:lnSpc>
              <a:spcBef>
                <a:spcPts val="1000"/>
              </a:spcBef>
              <a:spcAft>
                <a:spcPts val="1000"/>
              </a:spcAft>
              <a:buSzPts val="1500"/>
              <a:buNone/>
            </a:pPr>
            <a:r>
              <a:rPr lang="en" sz="1200" b="1" i="1">
                <a:solidFill>
                  <a:srgbClr val="000000"/>
                </a:solidFill>
              </a:rPr>
              <a:t>Note</a:t>
            </a:r>
            <a:r>
              <a:rPr lang="en" sz="1200" i="1">
                <a:solidFill>
                  <a:srgbClr val="000000"/>
                </a:solidFill>
              </a:rPr>
              <a:t>: You can use more than one slide if needed </a:t>
            </a:r>
            <a:endParaRPr sz="14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Building - Undersampled Data</a:t>
            </a:r>
            <a:endParaRPr>
              <a:solidFill>
                <a:srgbClr val="000000"/>
              </a:solidFill>
            </a:endParaRPr>
          </a:p>
        </p:txBody>
      </p:sp>
      <p:sp>
        <p:nvSpPr>
          <p:cNvPr id="219" name="Google Shape;219;p46"/>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spcBef>
                <a:spcPts val="1000"/>
              </a:spcBef>
              <a:spcAft>
                <a:spcPts val="0"/>
              </a:spcAft>
              <a:buClr>
                <a:schemeClr val="dk1"/>
              </a:buClr>
              <a:buSzPts val="1400"/>
              <a:buChar char="●"/>
            </a:pPr>
            <a:r>
              <a:rPr lang="en" sz="1400">
                <a:solidFill>
                  <a:schemeClr val="dk1"/>
                </a:solidFill>
              </a:rPr>
              <a:t>Describe the undersampling method used</a:t>
            </a:r>
            <a:endParaRPr sz="1400">
              <a:solidFill>
                <a:schemeClr val="dk1"/>
              </a:solidFill>
            </a:endParaRPr>
          </a:p>
          <a:p>
            <a:pPr marL="457200" lvl="0" indent="-317500" algn="l" rtl="0">
              <a:spcBef>
                <a:spcPts val="1000"/>
              </a:spcBef>
              <a:spcAft>
                <a:spcPts val="0"/>
              </a:spcAft>
              <a:buClr>
                <a:schemeClr val="dk1"/>
              </a:buClr>
              <a:buSzPts val="1400"/>
              <a:buChar char="●"/>
            </a:pPr>
            <a:r>
              <a:rPr lang="en" sz="1400">
                <a:solidFill>
                  <a:schemeClr val="dk1"/>
                </a:solidFill>
              </a:rPr>
              <a:t>List the models built along with the scores on different evaluation metrics</a:t>
            </a:r>
            <a:endParaRPr sz="1400">
              <a:solidFill>
                <a:schemeClr val="dk1"/>
              </a:solidFill>
            </a:endParaRPr>
          </a:p>
          <a:p>
            <a:pPr marL="457200" lvl="0" indent="-317500" algn="l" rtl="0">
              <a:spcBef>
                <a:spcPts val="1000"/>
              </a:spcBef>
              <a:spcAft>
                <a:spcPts val="0"/>
              </a:spcAft>
              <a:buClr>
                <a:schemeClr val="dk1"/>
              </a:buClr>
              <a:buSzPts val="1400"/>
              <a:buChar char="●"/>
            </a:pPr>
            <a:r>
              <a:rPr lang="en" sz="1400">
                <a:solidFill>
                  <a:schemeClr val="dk1"/>
                </a:solidFill>
              </a:rPr>
              <a:t>Comment on the model performance</a:t>
            </a:r>
            <a:endParaRPr sz="1400">
              <a:solidFill>
                <a:schemeClr val="dk1"/>
              </a:solidFill>
            </a:endParaRPr>
          </a:p>
          <a:p>
            <a:pPr marL="0" lvl="0" indent="0" algn="l" rtl="0">
              <a:spcBef>
                <a:spcPts val="1000"/>
              </a:spcBef>
              <a:spcAft>
                <a:spcPts val="0"/>
              </a:spcAft>
              <a:buClr>
                <a:srgbClr val="000000"/>
              </a:buClr>
              <a:buSzPts val="1500"/>
              <a:buFont typeface="Arial"/>
              <a:buNone/>
            </a:pPr>
            <a:endParaRPr sz="1400">
              <a:solidFill>
                <a:schemeClr val="dk1"/>
              </a:solidFill>
            </a:endParaRPr>
          </a:p>
          <a:p>
            <a:pPr marL="0" lvl="0" indent="0" algn="l" rtl="0">
              <a:spcBef>
                <a:spcPts val="1000"/>
              </a:spcBef>
              <a:spcAft>
                <a:spcPts val="0"/>
              </a:spcAft>
              <a:buSzPts val="1500"/>
              <a:buNone/>
            </a:pPr>
            <a:r>
              <a:rPr lang="en" sz="1200" b="1" i="1">
                <a:solidFill>
                  <a:srgbClr val="000000"/>
                </a:solidFill>
              </a:rPr>
              <a:t>Note</a:t>
            </a:r>
            <a:r>
              <a:rPr lang="en" sz="1200" i="1">
                <a:solidFill>
                  <a:srgbClr val="000000"/>
                </a:solidFill>
              </a:rPr>
              <a:t>: You can use more than one slide if needed </a:t>
            </a:r>
            <a:endParaRPr sz="1400">
              <a:solidFill>
                <a:schemeClr val="dk1"/>
              </a:solidFill>
            </a:endParaRPr>
          </a:p>
          <a:p>
            <a:pPr marL="0" lvl="0" indent="0" algn="l" rtl="0">
              <a:lnSpc>
                <a:spcPct val="115000"/>
              </a:lnSpc>
              <a:spcBef>
                <a:spcPts val="1000"/>
              </a:spcBef>
              <a:spcAft>
                <a:spcPts val="1000"/>
              </a:spcAft>
              <a:buSzPts val="1500"/>
              <a:buNone/>
            </a:pPr>
            <a:endParaRPr sz="14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Model Improvement - Hyperparameter Tuning</a:t>
            </a:r>
            <a:endParaRPr>
              <a:solidFill>
                <a:srgbClr val="000000"/>
              </a:solidFill>
            </a:endParaRPr>
          </a:p>
        </p:txBody>
      </p:sp>
      <p:sp>
        <p:nvSpPr>
          <p:cNvPr id="225" name="Google Shape;225;p4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r>
              <a:rPr lang="en" sz="1400">
                <a:solidFill>
                  <a:schemeClr val="dk1"/>
                </a:solidFill>
              </a:rPr>
              <a:t>List the best performing models (at least 3) among all the models built previously with rationale</a:t>
            </a:r>
            <a:endParaRPr sz="1400">
              <a:solidFill>
                <a:schemeClr val="dk1"/>
              </a:solidFill>
            </a:endParaRPr>
          </a:p>
          <a:p>
            <a:pPr marL="457200" lvl="0" indent="-317500" algn="l" rtl="0">
              <a:lnSpc>
                <a:spcPct val="115000"/>
              </a:lnSpc>
              <a:spcBef>
                <a:spcPts val="1000"/>
              </a:spcBef>
              <a:spcAft>
                <a:spcPts val="0"/>
              </a:spcAft>
              <a:buClr>
                <a:srgbClr val="000000"/>
              </a:buClr>
              <a:buSzPts val="1400"/>
              <a:buChar char="●"/>
            </a:pPr>
            <a:r>
              <a:rPr lang="en" sz="1400">
                <a:solidFill>
                  <a:schemeClr val="dk1"/>
                </a:solidFill>
              </a:rPr>
              <a:t>Describe the method used and parameters tuned</a:t>
            </a:r>
            <a:endParaRPr sz="1400">
              <a:solidFill>
                <a:schemeClr val="dk1"/>
              </a:solidFill>
            </a:endParaRPr>
          </a:p>
          <a:p>
            <a:pPr marL="457200" lvl="0" indent="-317500" algn="l" rtl="0">
              <a:lnSpc>
                <a:spcPct val="115000"/>
              </a:lnSpc>
              <a:spcBef>
                <a:spcPts val="1000"/>
              </a:spcBef>
              <a:spcAft>
                <a:spcPts val="0"/>
              </a:spcAft>
              <a:buClr>
                <a:srgbClr val="000000"/>
              </a:buClr>
              <a:buSzPts val="1400"/>
              <a:buChar char="●"/>
            </a:pPr>
            <a:r>
              <a:rPr lang="en" sz="1400">
                <a:solidFill>
                  <a:schemeClr val="dk1"/>
                </a:solidFill>
              </a:rPr>
              <a:t>Comment on the performance of the tuned models</a:t>
            </a:r>
            <a:endParaRPr sz="1400">
              <a:solidFill>
                <a:schemeClr val="dk1"/>
              </a:solidFill>
            </a:endParaRPr>
          </a:p>
          <a:p>
            <a:pPr marL="0" lvl="0" indent="0" algn="l" rtl="0">
              <a:lnSpc>
                <a:spcPct val="115000"/>
              </a:lnSpc>
              <a:spcBef>
                <a:spcPts val="1000"/>
              </a:spcBef>
              <a:spcAft>
                <a:spcPts val="0"/>
              </a:spcAft>
              <a:buSzPts val="1500"/>
              <a:buNone/>
            </a:pPr>
            <a:endParaRPr sz="1400">
              <a:solidFill>
                <a:schemeClr val="dk1"/>
              </a:solidFill>
            </a:endParaRPr>
          </a:p>
          <a:p>
            <a:pPr marL="0" lvl="0" indent="0" algn="l" rtl="0">
              <a:lnSpc>
                <a:spcPct val="115000"/>
              </a:lnSpc>
              <a:spcBef>
                <a:spcPts val="1000"/>
              </a:spcBef>
              <a:spcAft>
                <a:spcPts val="0"/>
              </a:spcAft>
              <a:buSzPts val="1500"/>
              <a:buNone/>
            </a:pPr>
            <a:r>
              <a:rPr lang="en" sz="1200" b="1" i="1">
                <a:solidFill>
                  <a:srgbClr val="000000"/>
                </a:solidFill>
              </a:rPr>
              <a:t>Note</a:t>
            </a:r>
            <a:r>
              <a:rPr lang="en" sz="1200" i="1">
                <a:solidFill>
                  <a:srgbClr val="000000"/>
                </a:solidFill>
              </a:rPr>
              <a:t>: You can use more than one slide if needed</a:t>
            </a:r>
            <a:endParaRPr sz="1200" i="1">
              <a:solidFill>
                <a:srgbClr val="000000"/>
              </a:solidFill>
            </a:endParaRPr>
          </a:p>
          <a:p>
            <a:pPr marL="0" lvl="0" indent="0" algn="l" rtl="0">
              <a:lnSpc>
                <a:spcPct val="115000"/>
              </a:lnSpc>
              <a:spcBef>
                <a:spcPts val="1000"/>
              </a:spcBef>
              <a:spcAft>
                <a:spcPts val="1000"/>
              </a:spcAft>
              <a:buSzPts val="1500"/>
              <a:buNone/>
            </a:pPr>
            <a:r>
              <a:rPr lang="en" sz="1200" b="1" i="1">
                <a:solidFill>
                  <a:srgbClr val="000000"/>
                </a:solidFill>
              </a:rPr>
              <a:t>Note</a:t>
            </a:r>
            <a:r>
              <a:rPr lang="en" sz="1200" i="1">
                <a:solidFill>
                  <a:srgbClr val="000000"/>
                </a:solidFill>
              </a:rPr>
              <a:t>: </a:t>
            </a:r>
            <a:r>
              <a:rPr lang="en" sz="1200">
                <a:solidFill>
                  <a:srgbClr val="000000"/>
                </a:solidFill>
                <a:highlight>
                  <a:srgbClr val="FFFFFF"/>
                </a:highlight>
              </a:rPr>
              <a:t>XGBoost can take a significantly longer time to run, so if you have time complexity issues then you can avoid tuning    XGBoost.</a:t>
            </a:r>
            <a:endParaRPr sz="1200" i="1">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000000"/>
                </a:solidFill>
              </a:rPr>
              <a:t>Slide Header</a:t>
            </a:r>
            <a:endParaRPr>
              <a:solidFill>
                <a:srgbClr val="000000"/>
              </a:solidFill>
            </a:endParaRPr>
          </a:p>
        </p:txBody>
      </p:sp>
      <p:sp>
        <p:nvSpPr>
          <p:cNvPr id="231" name="Google Shape;231;p4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400">
                <a:solidFill>
                  <a:schemeClr val="dk1"/>
                </a:solidFill>
              </a:rPr>
              <a:t>Please add any other pointers (if needed)</a:t>
            </a:r>
            <a:endParaRPr sz="14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9"/>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239" name="Google Shape;239;p49"/>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17</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17</Slides>
  <Notes>16</Notes>
  <HiddenSlides>0</HiddenSlides>
  <ScaleCrop>false</ScaleCrop>
  <HeadingPairs>
    <vt:vector size="4" baseType="variant">
      <vt:variant>
        <vt:lpstr>Theme</vt:lpstr>
      </vt:variant>
      <vt:variant>
        <vt:i4>3</vt:i4>
      </vt:variant>
      <vt:variant>
        <vt:lpstr>Slide Titles</vt:lpstr>
      </vt:variant>
      <vt:variant>
        <vt:i4>17</vt:i4>
      </vt:variant>
    </vt:vector>
  </HeadingPairs>
  <TitlesOfParts>
    <vt:vector size="20" baseType="lpstr">
      <vt:lpstr>Simple Light</vt:lpstr>
      <vt:lpstr>Just Logo</vt:lpstr>
      <vt:lpstr>Just Logo</vt:lpstr>
      <vt:lpstr>EASY VISA PROJECT</vt:lpstr>
      <vt:lpstr>Contents / Agenda</vt:lpstr>
      <vt:lpstr>Executive Summary </vt:lpstr>
      <vt:lpstr>Business Problem Overview and Solution Approach</vt:lpstr>
      <vt:lpstr>Business Problem Overview and Solution Approach</vt:lpstr>
      <vt:lpstr>EDA Results</vt:lpstr>
      <vt:lpstr>PowerPoint Presentation</vt:lpstr>
      <vt:lpstr>Data Preprocessing </vt:lpstr>
      <vt:lpstr>Model Performance Summary and Final Model Selection</vt:lpstr>
      <vt:lpstr>APPENDIX</vt:lpstr>
      <vt:lpstr>Data Background and Contents</vt:lpstr>
      <vt:lpstr>Model Building - Original Data</vt:lpstr>
      <vt:lpstr>Model Building - Oversampled Data</vt:lpstr>
      <vt:lpstr>Model Building - Undersampled Data</vt:lpstr>
      <vt:lpstr>Model Improvement - Hyperparameter Tuning</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56</cp:revision>
  <dcterms:modified xsi:type="dcterms:W3CDTF">2025-12-22T03:45:48Z</dcterms:modified>
</cp:coreProperties>
</file>